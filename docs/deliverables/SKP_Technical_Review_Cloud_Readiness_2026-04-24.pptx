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2f34b5e4cd4447" /><Relationship Type="http://schemas.openxmlformats.org/officeDocument/2006/relationships/extended-properties" Target="/docProps/app.xml" Id="R00d5a11220f34886" /><Relationship Type="http://schemas.openxmlformats.org/officeDocument/2006/relationships/officeDocument" Target="/ppt/presentation.xml" Id="Rd89671a1ab7b4b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b00d82bd1a4c9f"/>
  </p:sldMasterIdLst>
  <p:notesMasterIdLst>
    <p:notesMasterId xmlns:r="http://schemas.openxmlformats.org/officeDocument/2006/relationships" r:id="R13e7c155c5204e9b"/>
  </p:notesMasterIdLst>
  <p:sldIdLst>
    <p:sldId xmlns:r="http://schemas.openxmlformats.org/officeDocument/2006/relationships" id="256" r:id="R6dc051b46f1f4feb"/>
    <p:sldId xmlns:r="http://schemas.openxmlformats.org/officeDocument/2006/relationships" id="257" r:id="Rc9ee72600e3f4204"/>
    <p:sldId xmlns:r="http://schemas.openxmlformats.org/officeDocument/2006/relationships" id="258" r:id="R730cbb586b7a46f7"/>
    <p:sldId xmlns:r="http://schemas.openxmlformats.org/officeDocument/2006/relationships" id="259" r:id="Rf91b63ef9cf44c23"/>
    <p:sldId xmlns:r="http://schemas.openxmlformats.org/officeDocument/2006/relationships" id="260" r:id="R24246f2a3045434c"/>
    <p:sldId xmlns:r="http://schemas.openxmlformats.org/officeDocument/2006/relationships" id="261" r:id="Rf5771298c87b42e2"/>
    <p:sldId xmlns:r="http://schemas.openxmlformats.org/officeDocument/2006/relationships" id="262" r:id="Rf24a9d0929574fac"/>
    <p:sldId xmlns:r="http://schemas.openxmlformats.org/officeDocument/2006/relationships" id="263" r:id="Re862f8418dfd45f0"/>
    <p:sldId xmlns:r="http://schemas.openxmlformats.org/officeDocument/2006/relationships" id="264" r:id="R4d79eeb377f94161"/>
    <p:sldId xmlns:r="http://schemas.openxmlformats.org/officeDocument/2006/relationships" id="265" r:id="Rc4de9607d3b84d9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b00d82bd1a4c9f" /><Relationship Type="http://schemas.openxmlformats.org/officeDocument/2006/relationships/theme" Target="/ppt/theme/theme1.xml" Id="R04a60176dbd640e2" /><Relationship Type="http://schemas.openxmlformats.org/officeDocument/2006/relationships/notesMaster" Target="/ppt/notesMasters/notesMaster1.xml" Id="R13e7c155c5204e9b" /><Relationship Type="http://schemas.openxmlformats.org/officeDocument/2006/relationships/presProps" Target="/ppt/presProps.xml" Id="R461a711157414858" /><Relationship Type="http://schemas.openxmlformats.org/officeDocument/2006/relationships/viewProps" Target="/ppt/viewProps.xml" Id="R453eebeef20e4487" /><Relationship Type="http://schemas.openxmlformats.org/officeDocument/2006/relationships/tableStyles" Target="/ppt/tableStyles.xml" Id="R80c791c47d684e24" /><Relationship Type="http://schemas.openxmlformats.org/officeDocument/2006/relationships/slide" Target="/ppt/slides/slide1.xml" Id="R6dc051b46f1f4feb" /><Relationship Type="http://schemas.openxmlformats.org/officeDocument/2006/relationships/slide" Target="/ppt/slides/slide2.xml" Id="Rc9ee72600e3f4204" /><Relationship Type="http://schemas.openxmlformats.org/officeDocument/2006/relationships/slide" Target="/ppt/slides/slide3.xml" Id="R730cbb586b7a46f7" /><Relationship Type="http://schemas.openxmlformats.org/officeDocument/2006/relationships/slide" Target="/ppt/slides/slide4.xml" Id="Rf91b63ef9cf44c23" /><Relationship Type="http://schemas.openxmlformats.org/officeDocument/2006/relationships/slide" Target="/ppt/slides/slide5.xml" Id="R24246f2a3045434c" /><Relationship Type="http://schemas.openxmlformats.org/officeDocument/2006/relationships/slide" Target="/ppt/slides/slide6.xml" Id="Rf5771298c87b42e2" /><Relationship Type="http://schemas.openxmlformats.org/officeDocument/2006/relationships/slide" Target="/ppt/slides/slide7.xml" Id="Rf24a9d0929574fac" /><Relationship Type="http://schemas.openxmlformats.org/officeDocument/2006/relationships/slide" Target="/ppt/slides/slide8.xml" Id="Re862f8418dfd45f0" /><Relationship Type="http://schemas.openxmlformats.org/officeDocument/2006/relationships/slide" Target="/ppt/slides/slide9.xml" Id="R4d79eeb377f94161" /><Relationship Type="http://schemas.openxmlformats.org/officeDocument/2006/relationships/slide" Target="/ppt/slides/slide10.xml" Id="Rc4de9607d3b84d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2272e5ff9c04f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e048f29d784e68" /><Relationship Type="http://schemas.openxmlformats.org/officeDocument/2006/relationships/notesMaster" Target="/ppt/notesMasters/notesMaster1.xml" Id="R7e96a4973fb445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d4205566a3a48d1" /><Relationship Type="http://schemas.openxmlformats.org/officeDocument/2006/relationships/notesMaster" Target="/ppt/notesMasters/notesMaster1.xml" Id="R410eeed946dd41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ca7a0bedf14397" /><Relationship Type="http://schemas.openxmlformats.org/officeDocument/2006/relationships/notesMaster" Target="/ppt/notesMasters/notesMaster1.xml" Id="R84b98de1dc1f4a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83d820c9eae4bc6" /><Relationship Type="http://schemas.openxmlformats.org/officeDocument/2006/relationships/notesMaster" Target="/ppt/notesMasters/notesMaster1.xml" Id="R7b7f95564d3f495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83c7d86cd2c471f" /><Relationship Type="http://schemas.openxmlformats.org/officeDocument/2006/relationships/notesMaster" Target="/ppt/notesMasters/notesMaster1.xml" Id="R5b31deafccec45a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e089350e1b4620" /><Relationship Type="http://schemas.openxmlformats.org/officeDocument/2006/relationships/notesMaster" Target="/ppt/notesMasters/notesMaster1.xml" Id="Rc005a3bb3f374ec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766c9e04ad4314" /><Relationship Type="http://schemas.openxmlformats.org/officeDocument/2006/relationships/notesMaster" Target="/ppt/notesMasters/notesMaster1.xml" Id="Re54de0072bb442d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649f6c4e5af4164" /><Relationship Type="http://schemas.openxmlformats.org/officeDocument/2006/relationships/notesMaster" Target="/ppt/notesMasters/notesMaster1.xml" Id="Rb38358a63d6d4b5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469a49394c24d41" /><Relationship Type="http://schemas.openxmlformats.org/officeDocument/2006/relationships/notesMaster" Target="/ppt/notesMasters/notesMaster1.xml" Id="Rac2f49b8512149b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330d9146f7047df" /><Relationship Type="http://schemas.openxmlformats.org/officeDocument/2006/relationships/notesMaster" Target="/ppt/notesMasters/notesMaster1.xml" Id="Rb139bf5e970e4d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framing SKP as a tenant-aware knowledge platform, not a simple RAG demo. Emphasize that this review is based on code verified on 2026-04-24.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Technical review dated 2026-04-24 in docs/deliverables/TECHNICAL_REVIEW_AND_CLOUD_READINESS_2026-04-24.md.</a:t>
            </a:r>
          </a:p>
          <a:p xmlns:a="http://schemas.openxmlformats.org/drawingml/2006/main">
            <a:r>
              <a:t>- Verified against app/main.py, app/models.py, app/routers/*, app/services/*, frontend/src/pages/WorkspaceChatPage.tsx, and docker-compose.prod.yml.</a:t>
            </a:r>
          </a:p>
          <a:p xmlns:a="http://schemas.openxmlformats.org/drawingml/2006/main">
            <a:r>
              <a:t>- Validation run: backend unittest suite passed (67 tests) and frontend TypeScript typecheck passed.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Call out that older docs understate the current feature set. The codebase already includes connectors, billing, hosted model support, and richer ingestion paths.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Technical review dated 2026-04-24 in docs/deliverables/TECHNICAL_REVIEW_AND_CLOUD_READINESS_2026-04-24.md.</a:t>
            </a:r>
          </a:p>
          <a:p xmlns:a="http://schemas.openxmlformats.org/drawingml/2006/main">
            <a:r>
              <a:t>- Verified against app/main.py, app/models.py, app/routers/*, app/services/*, frontend/src/pages/WorkspaceChatPage.tsx, and docker-compose.prod.yml.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build confidence that the findings are evidence-based and not documentation-only observations.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Validation run: backend unittest suite passed (67 tests) and frontend TypeScript typecheck passed.</a:t>
            </a:r>
          </a:p>
          <a:p xmlns:a="http://schemas.openxmlformats.org/drawingml/2006/main">
            <a:r>
              <a:t>- Verified against app/main.py, app/models.py, app/routers/*, app/services/*, frontend/src/pages/WorkspaceChatPage.tsx, and docker-compose.prod.yml.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explains why the platform can be migrated without redesigning the whole system: the main issue is operational shape, not core domain structure.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Technical review dated 2026-04-24 in docs/deliverables/TECHNICAL_REVIEW_AND_CLOUD_READINESS_2026-04-24.md.</a:t>
            </a:r>
          </a:p>
          <a:p xmlns:a="http://schemas.openxmlformats.org/drawingml/2006/main">
            <a:r>
              <a:t>- Verified against app/main.py, app/models.py, app/routers/*, app/services/*, frontend/src/pages/WorkspaceChatPage.tsx, and docker-compose.prod.yml.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Mention that the platform supports more file types than the older PDF-first messaging suggests.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Technical review dated 2026-04-24 in docs/deliverables/TECHNICAL_REVIEW_AND_CLOUD_READINESS_2026-04-24.md.</a:t>
            </a:r>
          </a:p>
          <a:p xmlns:a="http://schemas.openxmlformats.org/drawingml/2006/main">
            <a:r>
              <a:t>- Verified against app/main.py, app/models.py, app/routers/*, app/services/*, frontend/src/pages/WorkspaceChatPage.tsx, and docker-compose.prod.yml.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strongest review slide. Tie each gap back to a concrete production consequence: schema risk, misleading metrics, and API timeouts or worker starvation.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Technical review dated 2026-04-24 in docs/deliverables/TECHNICAL_REVIEW_AND_CLOUD_READINESS_2026-04-24.md.</a:t>
            </a:r>
          </a:p>
          <a:p xmlns:a="http://schemas.openxmlformats.org/drawingml/2006/main">
            <a:r>
              <a:t>- Verified against app/main.py, app/models.py, app/routers/*, app/services/*, frontend/src/pages/WorkspaceChatPage.tsx, and docker-compose.prod.yml.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Kubernetes is not required for the first production step. The repository already maps well to a container-service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Technical review dated 2026-04-24 in docs/deliverables/TECHNICAL_REVIEW_AND_CLOUD_READINESS_2026-04-24.md.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If sovereignty is mandatory, note that private inference should still be deployed as its own service rather than as a hidden host dependency.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Technical review dated 2026-04-24 in docs/deliverables/TECHNICAL_REVIEW_AND_CLOUD_READINESS_2026-04-24.md.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should land the core message: no rewrite required, but no direct lift-and-shift to production either.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Technical review dated 2026-04-24 in docs/deliverables/TECHNICAL_REVIEW_AND_CLOUD_READINESS_2026-04-24.md.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key decision ask: approve the cloud-hardening backlog before calling the platform production-ready.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Technical review dated 2026-04-24 in docs/deliverables/TECHNICAL_REVIEW_AND_CLOUD_READINESS_2026-04-24.md.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e47e4336314ef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90478BC5-2A78-4B40-879F-E918601AC7A2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EF1198FD-958D-446E-80D8-12D4F28A2A90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7327B75-33D5-4CDF-953F-413D85A768C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0A967AC-CEDE-438B-BB9C-D343836F267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1374BEB-8AD3-4455-BAF2-CB551DE84B8F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373188927f649c2" /><Relationship Type="http://schemas.openxmlformats.org/officeDocument/2006/relationships/slideLayout" Target="/ppt/slideLayouts/slideLayout2.xml" Id="R848d9104eb7144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3A7F3FD-B4E6-4044-AA41-1BE92F92D9FB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8d9104eb7144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f1a79b7559442a" /><Relationship Type="http://schemas.openxmlformats.org/officeDocument/2006/relationships/image" Target="/ppt/media/image.png" Id="Rb611d8c2e07f4388" /><Relationship Type="http://schemas.openxmlformats.org/officeDocument/2006/relationships/notesSlide" Target="/ppt/notesSlides/notesSlide1.xml" Id="Rf271d365306041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19db720e354093" /><Relationship Type="http://schemas.openxmlformats.org/officeDocument/2006/relationships/image" Target="/ppt/media/image2.png" Id="R8f0ca5ec73df4605" /><Relationship Type="http://schemas.openxmlformats.org/officeDocument/2006/relationships/notesSlide" Target="/ppt/notesSlides/notesSlide2.xml" Id="R9ab59d6185c046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a67a4190ac47f3" /><Relationship Type="http://schemas.openxmlformats.org/officeDocument/2006/relationships/image" Target="/ppt/media/image3.png" Id="R92fb443621ee4bba" /><Relationship Type="http://schemas.openxmlformats.org/officeDocument/2006/relationships/notesSlide" Target="/ppt/notesSlides/notesSlide3.xml" Id="Rdc5f2ebfc5464b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dab47b468642fa" /><Relationship Type="http://schemas.openxmlformats.org/officeDocument/2006/relationships/image" Target="/ppt/media/image4.png" Id="R0f18f89ee0e341f3" /><Relationship Type="http://schemas.openxmlformats.org/officeDocument/2006/relationships/notesSlide" Target="/ppt/notesSlides/notesSlide4.xml" Id="R0810d342072941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1e9c92a02b4e7b" /><Relationship Type="http://schemas.openxmlformats.org/officeDocument/2006/relationships/image" Target="/ppt/media/image5.png" Id="Raaa3f30bbf9849d9" /><Relationship Type="http://schemas.openxmlformats.org/officeDocument/2006/relationships/notesSlide" Target="/ppt/notesSlides/notesSlide5.xml" Id="Rc02b9a55660042c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d09834a61f4bdb" /><Relationship Type="http://schemas.openxmlformats.org/officeDocument/2006/relationships/image" Target="/ppt/media/image6.png" Id="R605c71d37e844e31" /><Relationship Type="http://schemas.openxmlformats.org/officeDocument/2006/relationships/notesSlide" Target="/ppt/notesSlides/notesSlide6.xml" Id="Rd2bb334e57f441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f7648a2dda4305" /><Relationship Type="http://schemas.openxmlformats.org/officeDocument/2006/relationships/image" Target="/ppt/media/image7.png" Id="R6481054ac6ad43dc" /><Relationship Type="http://schemas.openxmlformats.org/officeDocument/2006/relationships/notesSlide" Target="/ppt/notesSlides/notesSlide7.xml" Id="Rd9d3c38cb18f4c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4fb4a67f32418b" /><Relationship Type="http://schemas.openxmlformats.org/officeDocument/2006/relationships/image" Target="/ppt/media/image8.png" Id="Rddd6448943b54e0e" /><Relationship Type="http://schemas.openxmlformats.org/officeDocument/2006/relationships/notesSlide" Target="/ppt/notesSlides/notesSlide8.xml" Id="R1e8313e353de4a7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b52546c96b46df" /><Relationship Type="http://schemas.openxmlformats.org/officeDocument/2006/relationships/image" Target="/ppt/media/image9.png" Id="R3690ab3cb4344ccf" /><Relationship Type="http://schemas.openxmlformats.org/officeDocument/2006/relationships/notesSlide" Target="/ppt/notesSlides/notesSlide9.xml" Id="R2f7c7048ca6e4c6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6358d867b3429c" /><Relationship Type="http://schemas.openxmlformats.org/officeDocument/2006/relationships/image" Target="/ppt/media/image10.png" Id="R644f99df6d674e6e" /><Relationship Type="http://schemas.openxmlformats.org/officeDocument/2006/relationships/notesSlide" Target="/ppt/notesSlides/notesSlide10.xml" Id="Rc4598a92c458406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1374BEB-8AD3-4455-BAF2-CB551DE84B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11d8c2e07f4388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49BAA8-014C-41F6-9801-2BB7260EE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883DA9-F5C7-4970-B3AB-9D9BEEDF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025C53-4AC2-4AE3-AFFA-7B766F7A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38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TECHNICAL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3B2F3F-A3BC-43E4-B2B1-20D66871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74771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214"/>
                </a:solidFill>
              </a:defRPr>
            </a:pPr>
            <a:r>
              <a:rPr sz="3600" b="1">
                <a:solidFill>
                  <a:srgbClr val="101214"/>
                </a:solidFill>
              </a:rPr>
              <a:t>Sovereign Knowledge Platform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ABEC85-9064-4308-88F8-293C06B7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581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0363A"/>
                </a:solidFill>
              </a:defRPr>
            </a:pPr>
            <a:r>
              <a:rPr sz="1500" b="0">
                <a:solidFill>
                  <a:srgbClr val="30363A"/>
                </a:solidFill>
              </a:rPr>
              <a:t>Current-state architecture review, cloud deployment recommendation, and production readiness assessment based on the live codebase.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DEBF5C-E7A2-4B6D-B215-CF4767055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3714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1FFD7C-0952-456B-A838-87F9EF9A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320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214"/>
                </a:solidFill>
              </a:defRPr>
            </a:pPr>
            <a:r>
              <a:rPr sz="1725" b="1">
                <a:solidFill>
                  <a:srgbClr val="101214"/>
                </a:solidFill>
              </a:rPr>
              <a:t>Pilot-ready, not prod-ready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4D619B-8D9B-4133-B5DA-FDB93EBE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All visible copy, cards, and structure in this deck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5991138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1374BEB-8AD3-4455-BAF2-CB551DE84B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0ca5ec73df4605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DEA9A2-8CC3-42DB-9B8B-2CE6C8B26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CB0746-FFDA-425D-9886-6C6DA283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PLATFORM SNAPSHOT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FB0EA5-7BAB-4639-9434-95AC44293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02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1C6F25-9C3B-488B-94DF-217090E0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E879F1-C107-473F-9114-3F8BCD81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D1896F-FEA5-471F-B0D5-0EF78B91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What SKP Actually Is Today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B3FC75-2596-42B2-B4B3-2CED97CAF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The repository has grown into a multi-tenant knowledge platform with admin, ingestion, retrieval, billing, and connector surfaces.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C95778-5474-40DA-846B-AD4569F7E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48100"/>
            <a:ext cx="33845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305F88-1D82-4F6F-9012-A88CFBDA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48100"/>
            <a:ext cx="762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1EB956-DF66-41F6-A9E0-72C814E3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767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717751-ACEC-49CE-87F5-72FDBE0D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529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98C926-C2A9-4CEE-9B1C-5DB3EF66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2767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714225-A013-445D-B43E-0FBE6C80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100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49EAB1-3C4D-4C33-A6EE-51B159A1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576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Platform Core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DA8866-89F3-409D-9CDB-F0C67A27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0"/>
            <a:ext cx="29273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FastAPI plus React/Vite with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org, workspace, membership,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and audit boundaries.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36DB48-2B1E-4028-899B-24C7ECC3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848100"/>
            <a:ext cx="33845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9C3917-AE54-459E-924E-F7CF4A7A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848100"/>
            <a:ext cx="762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BC2B20-4B8D-4F69-A2B1-C72BE655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767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FE88ED-7728-40F3-BFAB-CB329E54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248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457C79-4BD6-4F59-A28F-96B5FB645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333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FC27A9-21EB-492C-ACEB-3D907A24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3148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C7249C-B3C1-48A1-955F-04CA6F2E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0576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Data Plane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141D04-B433-4DB0-B404-0CFE32B5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667250"/>
            <a:ext cx="29273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PostgreSQL with pgvector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stores tenant data, chats,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chunks, ACLs, and analytics.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AD1AA3-FA90-49B3-8C92-CD6EBDEA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48100"/>
            <a:ext cx="33845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5DF417-284B-40DA-9B4F-6064DE10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48100"/>
            <a:ext cx="762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1AA674-02EB-4BD3-A030-1124CEC2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0767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CFA135-C1F1-4551-AD85-CE32B770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2195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C690F2-E413-47EB-8F18-7854B32F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3053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C31E31-7273-432E-9CED-867C0A77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3910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F5C3DB-7D95-4BB5-9627-E18FFE4E2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0576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AI Layer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2073C0-3A7D-4ED3-8952-77E3FE9C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667250"/>
            <a:ext cx="29273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Supports Ollama, OpenAI,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Anthropic, and optional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Cohere rerank.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FC1D60-7737-4DCC-878C-3FC97323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All visible copy, cards, and structure in this deck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12826691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1374BEB-8AD3-4455-BAF2-CB551DE84B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fb443621ee4bba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709E21-B1F6-4646-8148-3A17B37D9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769A85-1846-4DFD-957F-3F01DA76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REVIEW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2DCDC7-990E-4481-89EC-50C46771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03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B62BC7-E2F2-4B86-8EC0-2D4E3426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9A3860-E90A-46C3-BEE4-BC0FA793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9B3B14-7607-4532-99E5-CC4C648A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What Was Verified During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F98C59-5E77-4E28-963A-45EBE204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The assessment is grounded in the current runtime shape, active frontend, deployment assets, and automated validation results.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EDC368-31F6-4A78-ABF9-C967220F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678538-F726-4132-867A-AF0881DD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1A18A6-0814-4819-BCF5-B3935DF7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13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3187EE-5854-4817-8B52-9D8030AA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Backend router slices wired in app/main.py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FAE7E8-58CF-4E56-8370-2EDF2572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Auth, orgs, docs, chat, connectors, billing, metrics, config, health, and webhooks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63745A-595F-46C9-82E0-7EDD13F8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967E3B-BEC6-4304-9888-FD5487D43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F13022-DB34-47FC-847A-860B31FE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14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7BB2AF-096A-434B-9BF4-9E7FD28D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Core persistent entities in the main domain model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0B4D48-18F3-4EB9-91E1-9528A8F5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Users, tenants, workspaces, documents, chat, audit, analytics, and connectors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72566A-5AB3-45A6-91E5-687B5B44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628F9D-0BBE-47FB-9C8F-0900F303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CE321F-229C-4004-920D-F0C7FB92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67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F3EE0A-FC97-4CF9-8658-CF3F070B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Backend automated tests passing in this review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99F462-2633-4F7C-8640-9CF4778E4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Frontend TypeScript typecheck also passed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685839-BD6F-4EF6-8761-441E7B8B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All visible copy, cards, and structure in this deck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16170987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1374BEB-8AD3-4455-BAF2-CB551DE84B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18f89ee0e341f3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E65675-7CA8-4AD3-9642-08650189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A26CD7-4065-42F9-A431-7DAABAC1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8E2A9E-80F5-4598-B203-306B48C5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04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CE069A-F24C-47E7-B317-9DA20CC7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39672F-EC06-404F-B704-331A7BCEC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F154A7-3487-4DD1-A471-59D1434D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Current Runtime Architecture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46214D-BF24-4DDB-A2B0-26EB6302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The implementation is layered cleanly enough for cloud deployment, but several local-Docker assumptions still leak into production-sensitive paths.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7CF2B5-9E53-4FA5-8EDD-F99BF6D0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48100"/>
            <a:ext cx="33845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8109FB-44AF-4355-AF7C-586AB246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48100"/>
            <a:ext cx="762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5778CA-4BFF-4223-BDF8-F26DFF03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767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0CC8EA-264E-42CD-A8F2-C17D92BEC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529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27E738-4EBA-4921-903F-B97EA9CF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2767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207731-BB97-4CDA-A8D8-774B7D10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100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BD470D-AB2F-462F-8C00-45E60533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576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Experience Layer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0CB532-92DF-4A8D-8F1A-19E3E3C5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0"/>
            <a:ext cx="29273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React app shell handles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navigation, connectors,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billing, analytics,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documents, and chat.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5B86F9-A4E5-4B36-9403-F0C9CC26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848100"/>
            <a:ext cx="33845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68A625-5776-4F25-87E2-CE8C6B06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848100"/>
            <a:ext cx="762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229FAE-7F07-42E2-B0B3-CC859AE2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767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61D673-B51F-4658-8880-0EA79567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248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CA7D6B-6C5D-471E-B9B2-4AC58802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333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BD44D7-9163-4544-BF33-56A3DEF8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3148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656A99-A78B-4482-A3F4-66854963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0576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Application Layer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351A3A-DE21-4630-A2A3-2976CF27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667250"/>
            <a:ext cx="29273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FastAPI routers delegate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into services for auth,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RBAC, retrieval, chat,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billing, metrics, and sync.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9DD08B-1D3C-4EE7-8B33-9B67C5C2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48100"/>
            <a:ext cx="33845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3EA2F5-BD41-4F49-9DE7-E3955528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48100"/>
            <a:ext cx="762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D19EBA-1BDA-4A5C-A3DE-D713045A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0767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DD0CD7-EFD5-4E38-9194-80F9EA9C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2195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326BA1-A2E2-47DF-AAEC-A14DFBCE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3053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261245-2087-4AA6-BED7-0644A0F0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3910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349A25-0B99-4360-98E0-35CA6380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0576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State Layer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7EE83C-D15D-4026-B3D9-9BF3130B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667250"/>
            <a:ext cx="29273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Postgres is the record of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truth, Redis backs limits,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and documents still sit on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local disk.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5374D1-A939-4668-B75B-0F348276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All visible copy, cards, and structure in this deck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532245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1374BEB-8AD3-4455-BAF2-CB551DE84B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a3f30bbf9849d9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010D04-A31C-42E8-A4FD-EDCA4150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275C7D-53DE-49DE-A67E-90BB88419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DATA AND AI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2B0E67-B449-49AF-A215-59E99807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05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9B3EC6-4B41-47BD-8112-B591DA374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56355B-4EC9-44FA-9D8A-AD023340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98F59A-A698-463F-A31D-3EA6FFFB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How Documents Become Grounded Answers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A08455-5B02-43F1-9D5F-D5562126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SKP already has the main ingredients of a real enterprise RAG system: ingestion, chunking, embeddings, retrieval, citation logic, and session persistence.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A07D69-3C4D-402C-AE03-D1EE222E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48100"/>
            <a:ext cx="33845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19B047-AF07-412F-9951-4ADA018A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48100"/>
            <a:ext cx="762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76CBB0-753B-480D-8B94-05B5FFCE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767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4BA6EA-066E-431C-A56C-4D593C07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529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9BB994-029E-44D4-BD40-43C1DE7E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2767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5D5D4D-35FC-4424-AD92-73820B93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100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2BD45A-0ADE-4AC7-9637-0B5814EB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576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Ingest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6D2F21-3A8E-4CB9-86A5-ADBBFEFC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0"/>
            <a:ext cx="29273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Uploads and connector text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are normalized, chunked,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embedded, and stored with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tenant scope.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214BBB-D2EC-49D5-99CC-D9C46753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848100"/>
            <a:ext cx="33845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D92389-6D5B-4FC7-945A-2C12E4C4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848100"/>
            <a:ext cx="762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223728-2DDC-48FC-8359-CA2461A2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767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E07D31-2D22-4876-9211-A313F784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248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A94DCE-76B5-4198-AB4B-ADEC8351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333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8C1845-E1F1-48AC-B0AB-B69B8B60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3148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2ADEB8-DB9F-45B6-A2F1-F37F4410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0576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Retrieve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9415F3-0DCE-4812-BA16-999CDA5B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667250"/>
            <a:ext cx="29273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Normalization, vector or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hybrid search, rerank, and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permission filtering run in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one shared pipeline.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4C7023-5791-4814-898A-15E4FC46D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48100"/>
            <a:ext cx="33845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6EF273-781E-45C9-AC8A-199A450D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48100"/>
            <a:ext cx="762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8BE3F8-5B13-442D-B523-09C489748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0767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4B4E40-2464-4A63-A978-75C593782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2195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46A05C-CAA3-4923-A43B-8C07BFFE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3053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B27EB1-3F7E-49DA-9648-71D176492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3910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91FC92-EA93-4E83-9258-CD0BAD60D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0576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Answer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271132-0F6E-4C95-BD3C-09EA91E2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667250"/>
            <a:ext cx="29273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Answers persist with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citations, confidence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metadata, and exact fallback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behavior when evidence is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weak.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78106F-4A28-4648-8033-5EE6B635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All visible copy, cards, and structure in this deck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18868278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1374BEB-8AD3-4455-BAF2-CB551DE84B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5c71d37e844e31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A2FDBF-5707-4381-A32B-B841DA9A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0D560E-2F42-4B2F-884D-46E2F846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TOP FINDINGS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B9F844-5F76-4424-9F13-908F1FE9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06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3B05DB-3688-400C-BA11-651F07D6F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4C2DDF-1DC0-43D3-85C9-1EED8A9C8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D8D144-2611-4017-85D0-911370A8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The Review Surfaced Three High-Value Gaps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3D778D-64E8-4FD4-B0B3-6C37A897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These are not cosmetic issues. They affect analytics trust, deployment portability, and cloud-scale operations.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F2F557-0C6D-4B02-944E-7F643652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77B0D2-66E8-4495-8423-23AFF2BE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61A6A3-E9B0-45D1-82C6-CFB24427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768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0D1B31-2BA0-48C6-A6CA-164D1067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Embedding column is hardcoded despite configurable embedding dimensions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DE9B22-D2A9-4E16-A5BC-CA8B0E871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Schema and runtime config are out of sync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871649-A19A-47CA-8ED6-D69DB70DF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5E3994-0893-4F34-A658-6387C639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45466D-36C7-44D6-875A-BD8E67CA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Logs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F8BEE0-03A4-4493-94D5-535A9DEC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Normal chat requests do not write QueryLog even though dashboards depend on 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C09D0F-5C89-4C14-8220-7620F482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Streaming path logs analytics; current workspace UI uses non-streaming chat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7DF0E5-60FA-4355-8FE2-3DA7A391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88A919-E43F-43B7-A171-A7166900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7E7646-5935-4D37-AB2B-23F07FE8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Sync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412BD2-23D2-4437-84F7-A4539E51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Connector sync runs inline on the API request path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B835A4-EFAB-462E-A5F8-22266B534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This couples long-running ingestion work to web request capacity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FB8001-213A-4EA5-91D8-0862CC33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All visible copy, cards, and structure in this deck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5127057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1374BEB-8AD3-4455-BAF2-CB551DE84B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81054ac6ad43dc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3563E0-C7A9-46D1-AB34-442AD334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F16964-1318-4E2E-B7AE-3955B7E8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CLOUD TARGET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778DD2-6610-4335-86C3-1AA6AF43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07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7EBDA6-B12E-4701-95AE-1FC49483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2E5B54-27B7-4B8A-9DD8-7D60EE0F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03C4AD-D682-4258-AD85-29B245B5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Recommended Production Topology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68594C-7DF3-45B3-B88D-F7D1A8F4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The cleanest first production target is AWS managed services with the application kept largely intact.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EE9D62-FCC1-460D-963F-8BE97107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48100"/>
            <a:ext cx="33845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6AFB23-316C-4960-BE1C-B1458B0A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48100"/>
            <a:ext cx="762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A08B17-D1A1-43CD-8473-67C63272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767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452301-9F31-4916-92B1-57886235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529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8C0C68-B895-4709-8D1E-E9E22C9B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2767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C662C7-0386-4B4B-827D-67A460EC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100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31A41D-DB32-4BA7-91CE-8A5DA2E9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576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Edge And Frontend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F46CD8-DC84-487A-B013-AB722F8C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0"/>
            <a:ext cx="29273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CloudFront plus S3 for the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SPA, WAF at the edge, and an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ALB only for API traffic.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50346E-6451-4007-9AFB-FAB8D53F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848100"/>
            <a:ext cx="33845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B03F36-1EA8-4147-8482-4E6A845E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848100"/>
            <a:ext cx="762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F52E90-7AF3-4C6D-A2C6-FB26F945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767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1D9E82-60C8-47D5-B1BC-0C146A48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248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240B22-B0F7-4075-93D1-FCE8500E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333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9A0C4C-AC52-43DA-8740-C8B09E55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3148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422FDD-24A9-4C99-AFD0-074802A86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0576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Application Tier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444AF5-7275-49FC-8488-870D6D12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667250"/>
            <a:ext cx="29273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FastAPI on ECS Fargate plus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a separate worker service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for sync, OCR, and heavy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ingestion.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06C10C-DA79-476D-B7D5-A8761F93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48100"/>
            <a:ext cx="33845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0AA7E0-30C9-4923-A59C-EE674761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48100"/>
            <a:ext cx="762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5C2CBD-4C6F-4944-B55C-71BE4176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0767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A2628A-B0F7-43CC-BF2E-5E75943F4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2195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F083B7-028F-43C9-9C00-B84ACE6B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3053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6C78BB-CBD7-4DB4-AE84-5F68AF37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3910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C1181B-E995-4B74-90BB-E24F9556D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0576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Managed Data Services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662D7D-C322-4007-8F69-A6AEA606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667250"/>
            <a:ext cx="29273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RDS PostgreSQL, ElastiCache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Redis, S3 documents, Secrets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Manager, and EventBridge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plus SQS.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F11640-E6DE-40B4-81C9-B5D31A5C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All visible copy, cards, and structure in this deck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15180091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1374BEB-8AD3-4455-BAF2-CB551DE84B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d6448943b54e0e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5AE247-0C81-431A-81BF-4408DD863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B4C3EE-DDF6-4744-9B0D-9A238A42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COMPONENT PLACEMENT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6B0768-5A76-498B-95EE-545AEF37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08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03D2F2-6B3D-4B78-BFB9-4EFED9C1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CEE70A-118F-4998-B401-49CA5257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2FCA25-D7F2-404C-AF15-76839728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What Needs To Run Where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D08B9D-C405-4961-9A7D-D2B0DCC3F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The main deployment changes are about separating static delivery, request handling, stateful services, and background processing.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B801D0-3F58-4968-9F0E-2DD57FF9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48100"/>
            <a:ext cx="33845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0151DC-8A94-4F0E-9ECF-C1193D8B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48100"/>
            <a:ext cx="762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B77723-B7CC-4A8C-AD26-C0EABF33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767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773087-8E76-4A95-B716-2354BCB4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529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521A6F-E035-47D0-BCDB-95A8F9AB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2767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D38B77-3176-4ABD-A996-ABE2F02B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100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4D4FAA-6C29-4CAD-A9B0-041CF53A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576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Keep Outside The Container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3DD695-436B-4527-A347-54B1506E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0"/>
            <a:ext cx="29273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Move documents to object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storage and move secrets to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a managed vault.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BF7809-D40E-41B2-81D7-5DB27D0C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848100"/>
            <a:ext cx="33845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15D9C3-34E9-4C1F-BED5-C1FB3F4A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848100"/>
            <a:ext cx="762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E73010-1278-4F4D-A794-EC599EAB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767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621B37-F236-4488-A4C1-B59B8973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248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912DD2-1AC9-431C-A2CD-15A04F8F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333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B32EB2-94FE-4032-962F-EAD26BDA7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3148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320129-A221-42FE-B549-0F7FFAB1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0576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Keep Off The Request Path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794CE6-BB8C-4F05-8CF2-C527A930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667250"/>
            <a:ext cx="29273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Connector sync and heavy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ingestion belong on queues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and workers, not API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requests.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392471-075B-46C2-A5E3-2FB1E502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48100"/>
            <a:ext cx="33845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5B498F-D34F-458B-9C80-BF24ACF5E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48100"/>
            <a:ext cx="762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16C336-D061-49CE-B6DD-E04D73C5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0767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6467C1-4759-4514-9D06-0D7B3921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2195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9DD2D4-1639-4B8E-A7AC-61590279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3053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50DB71-707D-4004-A855-DA74463B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3910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9D6E0E-53B8-4966-AE68-010D662F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0576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Keep Managed Where Possible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856F7C-47C3-406D-9F05-0049E847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667250"/>
            <a:ext cx="29273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Use hosted model APIs first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unless private inference is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a hard requirement.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D9E1AF-A449-44D3-AECA-82946193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All visible copy, cards, and structure in this deck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10087231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1374BEB-8AD3-4455-BAF2-CB551DE84B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90ab3cb4344ccf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30C141-A1AE-4A92-B6CE-0CDC3186A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33D170-8EA1-43DD-95D0-FA1BE951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READINESS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D448F6-F0D0-40D9-B1C7-E7655156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09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4ADCB8-21F7-4E7C-9A13-CD3EA2DF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4D00C6-25E0-42BD-A5F6-3A15996E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A57B4B-5428-4F7B-8EA1-AD2917FA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Production Readiness Scorecard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E0AED8-C5D3-457B-8D61-3C3A7959D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SKP is structurally promising, but release readiness is uneven across architecture, operations, and deployment concerns.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93FABB-56C8-4917-8999-E9872939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6F8CD9-C3CD-4498-A807-C6B0F6DFF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E9227A-24AD-4CEB-ACE7-34388115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Ready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4CAFA5-35BE-4451-9EA3-E5B3B56B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Tenant model, RBAC shape, API layering, and container packaging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8D0776-502F-4BE6-AF7A-3A458FF5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Good foundation for a pilot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51C3FA-828D-4CD8-843C-23CD3F61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0F0E4F-9FCF-4C68-B8F1-E00C40C2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EA85C2-B740-43B5-BAEA-40C9A579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Needs Work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7100FA-D8EC-4173-B458-9E084E5D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Object storage, worker architecture, observability, migration discipline, and release automation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AFBDAD-0632-4BC2-8995-3AA0F9EC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These are the biggest cloud gaps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10E559-876D-4DB2-967C-3B828C2D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26F7E2-7A05-4EBE-9C5D-73FB555F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6E8F41-3E93-45BE-A547-9342E4DA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Not Yet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C0B9DF-90C4-49DD-8707-C0E201CA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Prod release without background jobs and non-local document storage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8A79A6-DD20-4230-8FB0-2875AB6E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Current Compose assumptions are still too strong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9B564E-38FD-4211-9A58-B004B4BF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All visible copy, cards, and structure in this deck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8708417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1374BEB-8AD3-4455-BAF2-CB551DE84B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4f99df6d674e6e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6E5815-16EF-4A78-BC75-C8D7E510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EFA60A-6C26-4B2A-A5FB-DBE0E183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RELEASE PATH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C2F4D5-C659-41C9-9E75-E83E54F4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10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E995D5-F2E5-4740-A17F-2B92D3C6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1628D2-71CA-4D42-8F7D-CCB59F3A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CAFE47-F022-4F5A-9EF7-0D0B1A94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Recommended Hardening And Rollout Sequence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125056-B57F-4883-B820-65397429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The safest path is a staged cloud pilot, then a production baseline, then an optional sovereign inference tier.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FC1D28-AC10-4A62-BB87-71C29A8D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48100"/>
            <a:ext cx="33845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C946DF-F685-4533-87CC-29005D70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48100"/>
            <a:ext cx="762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11F3C0-A238-428B-AE3A-E191BB94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767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7F22E9-9E2F-4B94-88C1-AB245FAD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529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7858E0-3BA9-4F6A-81D0-9C86AF0C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2767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36390D-4C6A-413C-A7C8-4EB6408A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100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0B0AB5-0A1E-47C6-BA7C-41C7F44C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576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Phase 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C4DEB1-19A4-4767-A6AF-17AD9447C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0"/>
            <a:ext cx="29273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Cloud pilot on managed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services with hosted models,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S3 documents, and ECS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deployment.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321102-1869-4DC7-B965-34D1F208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848100"/>
            <a:ext cx="33845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E6F044-28BF-4219-A05A-F4521AAD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848100"/>
            <a:ext cx="762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3AB85D-C271-48D5-8492-88850574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767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8B1C54-9493-40A4-AB2B-EEA110E8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248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63BF45-C47B-475C-9F83-13F92559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333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FE541E-B80F-4659-9A37-B383109A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3148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9937D6-B714-44DB-B50A-011E7B27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0576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Phase 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285985-D404-406A-94C1-40A4F7C7C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667250"/>
            <a:ext cx="29273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Add queue plus worker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execution, scheduled sync,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alarms, migration gates, and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rollback steps.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6B71AA-28CB-4A33-8F4F-062419EE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48100"/>
            <a:ext cx="33845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76AE8D-8B8D-42FF-8821-059AF93D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48100"/>
            <a:ext cx="762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DAF56C-D44C-4834-9284-52683F37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0767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F7CEC7-47A4-4679-8EA7-B678DC475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2195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A2CF1D-2F0F-42CD-87B7-EFA4B026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3053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738D8E-D5DD-4C81-9F8F-8266F3D1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3910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DB4EC8-C300-4FF8-8A9B-995C4DF9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0576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Phase 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23C9F4-7627-44E3-AFB6-33D467AA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667250"/>
            <a:ext cx="29273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Add private inference only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if the business or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data-governance model truly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requires it.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7FEFFB-0480-4AEF-805C-BF1A62E4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All visible copy, cards, and structure in this deck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14105404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2026-04-25T02:23:27.5340000Z</dcterms:created>
  <dcterms:modified xsi:type="dcterms:W3CDTF">2026-04-25T02:23:27.5340000Z</dcterms:modified>
</coreProperties>
</file>